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64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927B16-E493-4A63-A61A-906F70BD7F0C}" v="11" dt="2026-07-04T20:17:49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593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8999-E0E3-EC46-74A0-EAD38294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92229-06CA-C607-8CEE-01E6C86CC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79CA3E-B063-B21F-7112-E18059785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8EA4D-0E19-EC8A-D0C4-021DDA05A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25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jpe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1DC4-9C84-2813-99FD-8602015C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3BFEB1D-ED23-D2D7-653F-2784C049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52CE0250-0010-CCE5-79E6-012D6B73F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Shape 0">
            <a:extLst>
              <a:ext uri="{FF2B5EF4-FFF2-40B4-BE49-F238E27FC236}">
                <a16:creationId xmlns:a16="http://schemas.microsoft.com/office/drawing/2014/main" id="{7125A2D0-96E3-5845-402E-5C37DAB6E44F}"/>
              </a:ext>
            </a:extLst>
          </p:cNvPr>
          <p:cNvSpPr/>
          <p:nvPr/>
        </p:nvSpPr>
        <p:spPr>
          <a:xfrm>
            <a:off x="85725" y="85725"/>
            <a:ext cx="8972550" cy="1039416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208EF1BB-D37C-4E38-8CFE-03A97E233C54}"/>
              </a:ext>
            </a:extLst>
          </p:cNvPr>
          <p:cNvSpPr/>
          <p:nvPr/>
        </p:nvSpPr>
        <p:spPr>
          <a:xfrm>
            <a:off x="85725" y="1110853"/>
            <a:ext cx="8972550" cy="14288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64988720-FF7C-8C82-EF4D-FD8A0CE04C2B}"/>
              </a:ext>
            </a:extLst>
          </p:cNvPr>
          <p:cNvSpPr/>
          <p:nvPr/>
        </p:nvSpPr>
        <p:spPr>
          <a:xfrm>
            <a:off x="514336" y="351234"/>
            <a:ext cx="81153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0057A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SBI GFF 2026 HACKATHON</a:t>
            </a:r>
            <a:endParaRPr lang="en-US" sz="20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D347400B-5105-F988-D186-D85BC0940A63}"/>
              </a:ext>
            </a:extLst>
          </p:cNvPr>
          <p:cNvSpPr/>
          <p:nvPr/>
        </p:nvSpPr>
        <p:spPr>
          <a:xfrm>
            <a:off x="514336" y="744736"/>
            <a:ext cx="8115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Track 3: Agentic AI &amp; Emerging Tech</a:t>
            </a:r>
            <a:endParaRPr lang="en-US" sz="10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D8B06BA5-9923-B3F1-121D-0588C88212F2}"/>
              </a:ext>
            </a:extLst>
          </p:cNvPr>
          <p:cNvSpPr/>
          <p:nvPr/>
        </p:nvSpPr>
        <p:spPr>
          <a:xfrm>
            <a:off x="514350" y="1396603"/>
            <a:ext cx="8115300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750" b="1" dirty="0">
                <a:solidFill>
                  <a:srgbClr val="001A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Agentic AI Proactive Customer Engagement System</a:t>
            </a:r>
            <a:endParaRPr lang="en-US" sz="2750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313B36A9-03A0-F35B-764D-A6A7BA3687B3}"/>
              </a:ext>
            </a:extLst>
          </p:cNvPr>
          <p:cNvSpPr/>
          <p:nvPr/>
        </p:nvSpPr>
        <p:spPr>
          <a:xfrm>
            <a:off x="742950" y="2667151"/>
            <a:ext cx="432018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IN" sz="1200" b="1" dirty="0">
                <a:solidFill>
                  <a:schemeClr val="accent5"/>
                </a:solidFill>
                <a:latin typeface="Montserrat" panose="00000500000000000000" pitchFamily="2" charset="0"/>
              </a:rPr>
              <a:t>The Challenge: Reactive Banking in a Proactive World</a:t>
            </a:r>
            <a:endParaRPr lang="en-US" sz="12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D5DF04AA-B63F-96C2-FBC3-09D4D3DBE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3040000"/>
            <a:ext cx="2409816" cy="200025"/>
          </a:xfrm>
          <a:prstGeom prst="rect">
            <a:avLst/>
          </a:prstGeom>
        </p:spPr>
      </p:pic>
      <p:sp>
        <p:nvSpPr>
          <p:cNvPr id="46" name="Text 6">
            <a:extLst>
              <a:ext uri="{FF2B5EF4-FFF2-40B4-BE49-F238E27FC236}">
                <a16:creationId xmlns:a16="http://schemas.microsoft.com/office/drawing/2014/main" id="{6C0C3FEC-A237-4AB2-AEC1-D29BC07C40C6}"/>
              </a:ext>
            </a:extLst>
          </p:cNvPr>
          <p:cNvSpPr/>
          <p:nvPr/>
        </p:nvSpPr>
        <p:spPr>
          <a:xfrm>
            <a:off x="742950" y="3311463"/>
            <a:ext cx="24098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Rule-Based Blind Spots</a:t>
            </a:r>
            <a:endParaRPr lang="en-US" sz="90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AF4CC207-4535-5109-237D-B85361B782DA}"/>
              </a:ext>
            </a:extLst>
          </p:cNvPr>
          <p:cNvSpPr/>
          <p:nvPr/>
        </p:nvSpPr>
        <p:spPr>
          <a:xfrm>
            <a:off x="742950" y="3538277"/>
            <a:ext cx="2409816" cy="406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IN" sz="800" dirty="0"/>
              <a:t>Misses correlated customer signals and life-event patterns.</a:t>
            </a:r>
          </a:p>
          <a:p>
            <a:pPr marL="0" indent="0" algn="l">
              <a:lnSpc>
                <a:spcPct val="112000"/>
              </a:lnSpc>
              <a:buNone/>
            </a:pPr>
            <a:endParaRPr lang="en-US" sz="800" dirty="0"/>
          </a:p>
        </p:txBody>
      </p:sp>
      <p:pic>
        <p:nvPicPr>
          <p:cNvPr id="50" name="Image 3" descr="preencoded.png">
            <a:extLst>
              <a:ext uri="{FF2B5EF4-FFF2-40B4-BE49-F238E27FC236}">
                <a16:creationId xmlns:a16="http://schemas.microsoft.com/office/drawing/2014/main" id="{4143E5DB-A95C-91D9-9C18-4FE74A8C1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7078" y="3040000"/>
            <a:ext cx="2409816" cy="200025"/>
          </a:xfrm>
          <a:prstGeom prst="rect">
            <a:avLst/>
          </a:prstGeom>
        </p:spPr>
      </p:pic>
      <p:sp>
        <p:nvSpPr>
          <p:cNvPr id="52" name="Text 8">
            <a:extLst>
              <a:ext uri="{FF2B5EF4-FFF2-40B4-BE49-F238E27FC236}">
                <a16:creationId xmlns:a16="http://schemas.microsoft.com/office/drawing/2014/main" id="{4CC14E2B-DA87-B9A7-74BD-D50FB765EF65}"/>
              </a:ext>
            </a:extLst>
          </p:cNvPr>
          <p:cNvSpPr/>
          <p:nvPr/>
        </p:nvSpPr>
        <p:spPr>
          <a:xfrm>
            <a:off x="3367078" y="3311463"/>
            <a:ext cx="240981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Generic Mass Campaigns</a:t>
            </a:r>
            <a:endParaRPr lang="en-US" sz="900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6FADCE66-F860-94E2-B957-66B58EC4F0EF}"/>
              </a:ext>
            </a:extLst>
          </p:cNvPr>
          <p:cNvSpPr/>
          <p:nvPr/>
        </p:nvSpPr>
        <p:spPr>
          <a:xfrm>
            <a:off x="3367078" y="3538277"/>
            <a:ext cx="240981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relevance leads to high customer fatigue and poor conversion.</a:t>
            </a:r>
            <a:endParaRPr lang="en-US" sz="800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3681B1A2-EE4F-771B-6CBB-D18FA988F6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1206" y="3040000"/>
            <a:ext cx="2409844" cy="200025"/>
          </a:xfrm>
          <a:prstGeom prst="rect">
            <a:avLst/>
          </a:prstGeom>
        </p:spPr>
      </p:pic>
      <p:sp>
        <p:nvSpPr>
          <p:cNvPr id="58" name="Text 10">
            <a:extLst>
              <a:ext uri="{FF2B5EF4-FFF2-40B4-BE49-F238E27FC236}">
                <a16:creationId xmlns:a16="http://schemas.microsoft.com/office/drawing/2014/main" id="{5A1E859A-E8CE-9550-6749-F20CF09134E4}"/>
              </a:ext>
            </a:extLst>
          </p:cNvPr>
          <p:cNvSpPr/>
          <p:nvPr/>
        </p:nvSpPr>
        <p:spPr>
          <a:xfrm>
            <a:off x="5991206" y="3311463"/>
            <a:ext cx="240984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Memory</a:t>
            </a:r>
            <a:endParaRPr lang="en-US" sz="900" dirty="0"/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CE0CEB94-6CC0-4897-99BF-AFC5D42278AA}"/>
              </a:ext>
            </a:extLst>
          </p:cNvPr>
          <p:cNvSpPr/>
          <p:nvPr/>
        </p:nvSpPr>
        <p:spPr>
          <a:xfrm>
            <a:off x="5991206" y="3538277"/>
            <a:ext cx="240984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engagement starts from scratch, ignoring past customer responses.</a:t>
            </a:r>
            <a:endParaRPr lang="en-US" sz="800" dirty="0"/>
          </a:p>
        </p:txBody>
      </p:sp>
      <p:sp>
        <p:nvSpPr>
          <p:cNvPr id="62" name="Shape 12">
            <a:extLst>
              <a:ext uri="{FF2B5EF4-FFF2-40B4-BE49-F238E27FC236}">
                <a16:creationId xmlns:a16="http://schemas.microsoft.com/office/drawing/2014/main" id="{D52494B4-469E-B941-C5D5-35DC344F0D33}"/>
              </a:ext>
            </a:extLst>
          </p:cNvPr>
          <p:cNvSpPr/>
          <p:nvPr/>
        </p:nvSpPr>
        <p:spPr>
          <a:xfrm>
            <a:off x="85725" y="4455914"/>
            <a:ext cx="8972550" cy="601861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E5FB653D-9979-7D76-DDAA-DA51837C8E3C}"/>
              </a:ext>
            </a:extLst>
          </p:cNvPr>
          <p:cNvSpPr/>
          <p:nvPr/>
        </p:nvSpPr>
        <p:spPr>
          <a:xfrm>
            <a:off x="85725" y="4455914"/>
            <a:ext cx="8972550" cy="669158"/>
          </a:xfrm>
          <a:prstGeom prst="rect">
            <a:avLst/>
          </a:prstGeom>
          <a:noFill/>
          <a:ln/>
        </p:spPr>
        <p:txBody>
          <a:bodyPr wrap="square" lIns="510286" tIns="255143" rIns="510286" bIns="255143" rtlCol="0" anchor="t">
            <a:spAutoFit/>
          </a:bodyPr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489F0-562A-360D-587A-CCFFFC36AA1B}"/>
              </a:ext>
            </a:extLst>
          </p:cNvPr>
          <p:cNvSpPr txBox="1"/>
          <p:nvPr/>
        </p:nvSpPr>
        <p:spPr>
          <a:xfrm>
            <a:off x="918933" y="4549511"/>
            <a:ext cx="7306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i="1" dirty="0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Turning customer signals into meaningful conversations.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050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371475"/>
            <a:ext cx="3028950" cy="316111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14350" y="371475"/>
            <a:ext cx="3028950" cy="316111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Proactive Engagement Engine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14350" y="973336"/>
            <a:ext cx="81153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1A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Our Solution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14350" y="1534120"/>
            <a:ext cx="64293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1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multi-agent system that autonomously detects behavioral patterns, reasons about life events, and executes governed engagement across all product lines.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14350" y="2259881"/>
            <a:ext cx="2609841" cy="1251942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4" y="2438474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2944" y="2774231"/>
            <a:ext cx="22431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Evidence-Based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92944" y="3018904"/>
            <a:ext cx="22431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Reasons through correlated signals, not just static triggers.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257550" y="2259881"/>
            <a:ext cx="2614613" cy="1251942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425890" y="2772867"/>
            <a:ext cx="22479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Governed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425891" y="3017797"/>
            <a:ext cx="224790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Mandatory compliance gates for every customer action.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010294" y="2259881"/>
            <a:ext cx="2619384" cy="1251942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375" y="2438474"/>
            <a:ext cx="200025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98375" y="2774231"/>
            <a:ext cx="22526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Adaptive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198375" y="3018904"/>
            <a:ext cx="225265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memory ensures per-customer learning over time.</a:t>
            </a:r>
            <a:endParaRPr lang="en-US" sz="8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27" y="4069035"/>
            <a:ext cx="289322" cy="2571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3311" y="4397648"/>
            <a:ext cx="7679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Signal Detected</a:t>
            </a:r>
            <a:endParaRPr lang="en-US" sz="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1957388" y="4208338"/>
            <a:ext cx="107156" cy="171450"/>
          </a:xfrm>
          <a:prstGeom prst="rect">
            <a:avLst/>
          </a:prstGeom>
        </p:spPr>
      </p:pic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6056" y="4069035"/>
            <a:ext cx="257175" cy="2571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2544068" y="4397648"/>
            <a:ext cx="6411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Reasoning</a:t>
            </a:r>
            <a:endParaRPr lang="en-US" sz="7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3664744" y="4208338"/>
            <a:ext cx="107156" cy="171450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413" y="4069035"/>
            <a:ext cx="257175" cy="25717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114800" y="4397648"/>
            <a:ext cx="9144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Compliance Check</a:t>
            </a:r>
            <a:endParaRPr lang="en-US" sz="7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372100" y="4208338"/>
            <a:ext cx="107156" cy="171450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0769" y="4069035"/>
            <a:ext cx="257175" cy="257175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723037" y="4397648"/>
            <a:ext cx="111263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Personalized Outreach</a:t>
            </a:r>
            <a:endParaRPr lang="en-US" sz="7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7079456" y="4208338"/>
            <a:ext cx="107156" cy="171450"/>
          </a:xfrm>
          <a:prstGeom prst="rect">
            <a:avLst/>
          </a:prstGeom>
        </p:spPr>
      </p:pic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25978" y="4069035"/>
            <a:ext cx="321469" cy="257175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602736" y="4397648"/>
            <a:ext cx="76795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 Handoff</a:t>
            </a:r>
            <a:endParaRPr lang="en-US" sz="700" dirty="0"/>
          </a:p>
        </p:txBody>
      </p:sp>
      <p:sp>
        <p:nvSpPr>
          <p:cNvPr id="32" name="Shape 18"/>
          <p:cNvSpPr/>
          <p:nvPr/>
        </p:nvSpPr>
        <p:spPr>
          <a:xfrm>
            <a:off x="85725" y="4620220"/>
            <a:ext cx="8972550" cy="437555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19"/>
          <p:cNvSpPr/>
          <p:nvPr/>
        </p:nvSpPr>
        <p:spPr>
          <a:xfrm>
            <a:off x="85725" y="4620220"/>
            <a:ext cx="8972550" cy="14288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0"/>
          <p:cNvSpPr/>
          <p:nvPr/>
        </p:nvSpPr>
        <p:spPr>
          <a:xfrm>
            <a:off x="85725" y="4620220"/>
            <a:ext cx="8972550" cy="437555"/>
          </a:xfrm>
          <a:prstGeom prst="rect">
            <a:avLst/>
          </a:prstGeom>
          <a:noFill/>
          <a:ln/>
        </p:spPr>
        <p:txBody>
          <a:bodyPr wrap="square" lIns="510286" tIns="170053" rIns="510286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Payments · Investments · Insurance · Mobile Banking Adoption</a:t>
            </a:r>
            <a:endParaRPr lang="en-US" sz="800" dirty="0"/>
          </a:p>
        </p:txBody>
      </p:sp>
      <p:pic>
        <p:nvPicPr>
          <p:cNvPr id="36" name="Graphic 35" descr="Court with solid fill">
            <a:extLst>
              <a:ext uri="{FF2B5EF4-FFF2-40B4-BE49-F238E27FC236}">
                <a16:creationId xmlns:a16="http://schemas.microsoft.com/office/drawing/2014/main" id="{905E0AC1-CFB9-806D-B0B9-671482E2DB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8712" y="2424680"/>
            <a:ext cx="289610" cy="289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371475"/>
            <a:ext cx="1996678" cy="316111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14350" y="371475"/>
            <a:ext cx="1996678" cy="316111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9-Agent Pipeline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14350" y="901898"/>
            <a:ext cx="81153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1A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Agentic Intelligence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14350" y="1339453"/>
            <a:ext cx="8115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Orchestrated via LangGraph State Machines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4350" y="1727002"/>
            <a:ext cx="2609841" cy="505420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" y="1893987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42975" y="1841302"/>
            <a:ext cx="167520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Sentinel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942975" y="2002036"/>
            <a:ext cx="1675209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Detection: statistical anomaly flagging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3267066" y="1727002"/>
            <a:ext cx="2609841" cy="505420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222" y="1893987"/>
            <a:ext cx="214313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95691" y="1841302"/>
            <a:ext cx="158055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Analyst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3695691" y="2002036"/>
            <a:ext cx="158055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Hypothesis: correlates weak signals</a:t>
            </a:r>
            <a:endParaRPr lang="en-US" sz="650" dirty="0"/>
          </a:p>
        </p:txBody>
      </p:sp>
      <p:sp>
        <p:nvSpPr>
          <p:cNvPr id="15" name="Shape 10"/>
          <p:cNvSpPr/>
          <p:nvPr/>
        </p:nvSpPr>
        <p:spPr>
          <a:xfrm>
            <a:off x="6019781" y="1727002"/>
            <a:ext cx="2609869" cy="505420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938" y="1886843"/>
            <a:ext cx="214313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48406" y="1834158"/>
            <a:ext cx="158591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Policy Agent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6448406" y="1994892"/>
            <a:ext cx="158591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Compliance: DPDP/RBI/SEBI checks</a:t>
            </a:r>
            <a:endParaRPr lang="en-US" sz="650" dirty="0"/>
          </a:p>
        </p:txBody>
      </p:sp>
      <p:sp>
        <p:nvSpPr>
          <p:cNvPr id="19" name="Shape 13"/>
          <p:cNvSpPr/>
          <p:nvPr/>
        </p:nvSpPr>
        <p:spPr>
          <a:xfrm>
            <a:off x="514350" y="2361009"/>
            <a:ext cx="2609841" cy="505420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6" y="2527995"/>
            <a:ext cx="214313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2975" y="2475309"/>
            <a:ext cx="151090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Engagement Strategy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942975" y="2636044"/>
            <a:ext cx="151090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Decides channel, timing, objective</a:t>
            </a:r>
            <a:endParaRPr lang="en-US" sz="650" dirty="0"/>
          </a:p>
        </p:txBody>
      </p:sp>
      <p:sp>
        <p:nvSpPr>
          <p:cNvPr id="23" name="Shape 16"/>
          <p:cNvSpPr/>
          <p:nvPr/>
        </p:nvSpPr>
        <p:spPr>
          <a:xfrm>
            <a:off x="3267066" y="2361009"/>
            <a:ext cx="2609841" cy="505420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222" y="2527995"/>
            <a:ext cx="214313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695691" y="2475309"/>
            <a:ext cx="138767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Memory Agent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3695691" y="2636044"/>
            <a:ext cx="138767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per-customer history</a:t>
            </a:r>
            <a:endParaRPr lang="en-US" sz="650" dirty="0"/>
          </a:p>
        </p:txBody>
      </p:sp>
      <p:sp>
        <p:nvSpPr>
          <p:cNvPr id="27" name="Shape 19"/>
          <p:cNvSpPr/>
          <p:nvPr/>
        </p:nvSpPr>
        <p:spPr>
          <a:xfrm>
            <a:off x="6019781" y="2361009"/>
            <a:ext cx="2609869" cy="505420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938" y="2520851"/>
            <a:ext cx="214313" cy="1714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8406" y="2468166"/>
            <a:ext cx="161805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Caller</a:t>
            </a:r>
            <a:endParaRPr lang="en-US" sz="800" dirty="0"/>
          </a:p>
        </p:txBody>
      </p:sp>
      <p:sp>
        <p:nvSpPr>
          <p:cNvPr id="30" name="Text 21"/>
          <p:cNvSpPr/>
          <p:nvPr/>
        </p:nvSpPr>
        <p:spPr>
          <a:xfrm>
            <a:off x="6448406" y="2628900"/>
            <a:ext cx="1618059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Executes engagement (Twilio-ready)</a:t>
            </a:r>
            <a:endParaRPr lang="en-US" sz="650" dirty="0"/>
          </a:p>
        </p:txBody>
      </p:sp>
      <p:sp>
        <p:nvSpPr>
          <p:cNvPr id="31" name="Shape 22"/>
          <p:cNvSpPr/>
          <p:nvPr/>
        </p:nvSpPr>
        <p:spPr>
          <a:xfrm>
            <a:off x="514350" y="2995017"/>
            <a:ext cx="2609841" cy="505420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506" y="3162002"/>
            <a:ext cx="214313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42975" y="3109317"/>
            <a:ext cx="1318022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Transcript Analyzer</a:t>
            </a:r>
            <a:endParaRPr lang="en-US" sz="800" dirty="0"/>
          </a:p>
        </p:txBody>
      </p:sp>
      <p:sp>
        <p:nvSpPr>
          <p:cNvPr id="34" name="Text 24"/>
          <p:cNvSpPr/>
          <p:nvPr/>
        </p:nvSpPr>
        <p:spPr>
          <a:xfrm>
            <a:off x="942975" y="3270052"/>
            <a:ext cx="1318022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Classifies outcome: Lead/Risk</a:t>
            </a:r>
            <a:endParaRPr lang="en-US" sz="650" dirty="0"/>
          </a:p>
        </p:txBody>
      </p:sp>
      <p:sp>
        <p:nvSpPr>
          <p:cNvPr id="35" name="Shape 25"/>
          <p:cNvSpPr/>
          <p:nvPr/>
        </p:nvSpPr>
        <p:spPr>
          <a:xfrm>
            <a:off x="3267066" y="2995017"/>
            <a:ext cx="2609841" cy="505420"/>
          </a:xfrm>
          <a:prstGeom prst="rect">
            <a:avLst/>
          </a:prstGeom>
          <a:solidFill>
            <a:srgbClr val="F4F7FA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4222" y="3162002"/>
            <a:ext cx="214313" cy="1714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3695691" y="3109317"/>
            <a:ext cx="145553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Router</a:t>
            </a:r>
            <a:endParaRPr lang="en-US" sz="800" dirty="0"/>
          </a:p>
        </p:txBody>
      </p:sp>
      <p:sp>
        <p:nvSpPr>
          <p:cNvPr id="38" name="Text 27"/>
          <p:cNvSpPr/>
          <p:nvPr/>
        </p:nvSpPr>
        <p:spPr>
          <a:xfrm>
            <a:off x="3695691" y="3270052"/>
            <a:ext cx="1455539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off to correct human team</a:t>
            </a:r>
            <a:endParaRPr lang="en-US" sz="650" dirty="0"/>
          </a:p>
        </p:txBody>
      </p:sp>
      <p:sp>
        <p:nvSpPr>
          <p:cNvPr id="39" name="Shape 28"/>
          <p:cNvSpPr/>
          <p:nvPr/>
        </p:nvSpPr>
        <p:spPr>
          <a:xfrm>
            <a:off x="6019781" y="2995017"/>
            <a:ext cx="2609869" cy="505420"/>
          </a:xfrm>
          <a:prstGeom prst="rect">
            <a:avLst/>
          </a:prstGeom>
          <a:solidFill>
            <a:srgbClr val="E6F0F9"/>
          </a:solidFill>
          <a:ln w="9144">
            <a:solidFill>
              <a:srgbClr val="0057A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938" y="3154859"/>
            <a:ext cx="214313" cy="17145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448406" y="3102173"/>
            <a:ext cx="151090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Memory Read/Write</a:t>
            </a:r>
            <a:endParaRPr lang="en-US" sz="800" dirty="0"/>
          </a:p>
        </p:txBody>
      </p:sp>
      <p:sp>
        <p:nvSpPr>
          <p:cNvPr id="42" name="Text 30"/>
          <p:cNvSpPr/>
          <p:nvPr/>
        </p:nvSpPr>
        <p:spPr>
          <a:xfrm>
            <a:off x="6448406" y="3262908"/>
            <a:ext cx="1510903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 back for continuous learning</a:t>
            </a:r>
            <a:endParaRPr lang="en-US" sz="650" dirty="0"/>
          </a:p>
        </p:txBody>
      </p:sp>
      <p:sp>
        <p:nvSpPr>
          <p:cNvPr id="43" name="Shape 31"/>
          <p:cNvSpPr/>
          <p:nvPr/>
        </p:nvSpPr>
        <p:spPr>
          <a:xfrm>
            <a:off x="514350" y="3700463"/>
            <a:ext cx="8115300" cy="660797"/>
          </a:xfrm>
          <a:prstGeom prst="rect">
            <a:avLst/>
          </a:prstGeom>
          <a:solidFill>
            <a:srgbClr val="001A33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2"/>
          <p:cNvSpPr/>
          <p:nvPr/>
        </p:nvSpPr>
        <p:spPr>
          <a:xfrm>
            <a:off x="657225" y="3843338"/>
            <a:ext cx="78295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Coordinator Agent</a:t>
            </a:r>
            <a:endParaRPr lang="en-US" sz="1000" dirty="0"/>
          </a:p>
        </p:txBody>
      </p:sp>
      <p:sp>
        <p:nvSpPr>
          <p:cNvPr id="45" name="Text 33"/>
          <p:cNvSpPr/>
          <p:nvPr/>
        </p:nvSpPr>
        <p:spPr>
          <a:xfrm>
            <a:off x="3035201" y="4052292"/>
            <a:ext cx="30735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Orchestrates state via LangGraph, gates every transition.</a:t>
            </a:r>
            <a:endParaRPr lang="en-US" sz="850" dirty="0"/>
          </a:p>
        </p:txBody>
      </p:sp>
      <p:sp>
        <p:nvSpPr>
          <p:cNvPr id="46" name="Shape 34"/>
          <p:cNvSpPr/>
          <p:nvPr/>
        </p:nvSpPr>
        <p:spPr>
          <a:xfrm>
            <a:off x="514350" y="4546997"/>
            <a:ext cx="8115300" cy="380405"/>
          </a:xfrm>
          <a:prstGeom prst="rect">
            <a:avLst/>
          </a:prstGeom>
          <a:solidFill>
            <a:srgbClr val="E6F0F9"/>
          </a:solidFill>
          <a:ln w="18288">
            <a:solidFill>
              <a:srgbClr val="0057A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5"/>
          <p:cNvSpPr/>
          <p:nvPr/>
        </p:nvSpPr>
        <p:spPr>
          <a:xfrm>
            <a:off x="514350" y="4546997"/>
            <a:ext cx="8115300" cy="3804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"Orchestrated via </a:t>
            </a:r>
            <a:r>
              <a:rPr lang="en-US" sz="80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LangGraph</a:t>
            </a: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: a compiled state graph, not a sequential function-call chain."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845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371475"/>
            <a:ext cx="2037755" cy="316111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14350" y="371475"/>
            <a:ext cx="2037755" cy="316111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Technical Foundation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14350" y="901898"/>
            <a:ext cx="8115300" cy="366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1A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14350" y="1339453"/>
            <a:ext cx="81153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Scalable, Layered, and Future-Ready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17922" y="1641277"/>
            <a:ext cx="8115300" cy="514350"/>
          </a:xfrm>
          <a:prstGeom prst="rect">
            <a:avLst/>
          </a:prstGeom>
          <a:solidFill>
            <a:srgbClr val="F4F7FA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17922" y="1819870"/>
            <a:ext cx="1785938" cy="157163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17922" y="1819870"/>
            <a:ext cx="1785938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 Layer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8172" y="1812727"/>
            <a:ext cx="171450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61060" y="1829693"/>
            <a:ext cx="131802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Next.js User Dashboard</a:t>
            </a:r>
            <a:endParaRPr lang="en-US" sz="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4831" y="1812727"/>
            <a:ext cx="214313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50581" y="1829693"/>
            <a:ext cx="8447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Console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517922" y="2212777"/>
            <a:ext cx="8115300" cy="514350"/>
          </a:xfrm>
          <a:prstGeom prst="rect">
            <a:avLst/>
          </a:prstGeom>
          <a:solidFill>
            <a:srgbClr val="F4F7FA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517922" y="2391370"/>
            <a:ext cx="1785938" cy="157163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1"/>
          <p:cNvSpPr/>
          <p:nvPr/>
        </p:nvSpPr>
        <p:spPr>
          <a:xfrm>
            <a:off x="517922" y="2391370"/>
            <a:ext cx="1785938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API Layer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8172" y="2384227"/>
            <a:ext cx="128588" cy="1714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718197" y="2401193"/>
            <a:ext cx="88403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FastAPI Routing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7986" y="2384227"/>
            <a:ext cx="192881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152305" y="2401193"/>
            <a:ext cx="11608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Webhook Integration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517922" y="2784277"/>
            <a:ext cx="8115300" cy="514350"/>
          </a:xfrm>
          <a:prstGeom prst="rect">
            <a:avLst/>
          </a:prstGeom>
          <a:solidFill>
            <a:srgbClr val="E6F0F9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517922" y="2962870"/>
            <a:ext cx="1785938" cy="157163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517922" y="2962870"/>
            <a:ext cx="1785938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Orchestration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8172" y="2955727"/>
            <a:ext cx="214313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803922" y="2972693"/>
            <a:ext cx="156983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LangGraph 9-Agent Pipeline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517922" y="3355777"/>
            <a:ext cx="8115300" cy="514350"/>
          </a:xfrm>
          <a:prstGeom prst="rect">
            <a:avLst/>
          </a:prstGeom>
          <a:solidFill>
            <a:srgbClr val="F4F7FA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19"/>
          <p:cNvSpPr/>
          <p:nvPr/>
        </p:nvSpPr>
        <p:spPr>
          <a:xfrm>
            <a:off x="517922" y="3534370"/>
            <a:ext cx="1785938" cy="157163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/>
          <p:nvPr/>
        </p:nvSpPr>
        <p:spPr>
          <a:xfrm>
            <a:off x="517922" y="3534370"/>
            <a:ext cx="1785938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Reasoning Layer</a:t>
            </a:r>
            <a:endParaRPr lang="en-US" sz="9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8172" y="3527227"/>
            <a:ext cx="171450" cy="17145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2761060" y="3544193"/>
            <a:ext cx="11983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LLM (Claude / GPT-4)</a:t>
            </a:r>
            <a:endParaRPr lang="en-US" sz="8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5174" y="3527227"/>
            <a:ext cx="214313" cy="17145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530924" y="3544193"/>
            <a:ext cx="135016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JSON Output</a:t>
            </a:r>
            <a:endParaRPr lang="en-US" sz="800" dirty="0"/>
          </a:p>
        </p:txBody>
      </p:sp>
      <p:sp>
        <p:nvSpPr>
          <p:cNvPr id="33" name="Shape 23"/>
          <p:cNvSpPr/>
          <p:nvPr/>
        </p:nvSpPr>
        <p:spPr>
          <a:xfrm>
            <a:off x="517922" y="3927277"/>
            <a:ext cx="8115300" cy="514350"/>
          </a:xfrm>
          <a:prstGeom prst="rect">
            <a:avLst/>
          </a:prstGeom>
          <a:solidFill>
            <a:srgbClr val="F4F7FA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4"/>
          <p:cNvSpPr/>
          <p:nvPr/>
        </p:nvSpPr>
        <p:spPr>
          <a:xfrm>
            <a:off x="517922" y="4105870"/>
            <a:ext cx="1785938" cy="157163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5"/>
          <p:cNvSpPr/>
          <p:nvPr/>
        </p:nvSpPr>
        <p:spPr>
          <a:xfrm>
            <a:off x="517922" y="4105870"/>
            <a:ext cx="1785938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Layer</a:t>
            </a:r>
            <a:endParaRPr lang="en-US" sz="9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18172" y="4098727"/>
            <a:ext cx="150019" cy="17145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2739628" y="4115693"/>
            <a:ext cx="13644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Unified Data Abstraction</a:t>
            </a:r>
            <a:endParaRPr lang="en-US" sz="8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9835" y="4098727"/>
            <a:ext cx="171450" cy="17145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632722" y="4115693"/>
            <a:ext cx="103405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 Ready</a:t>
            </a:r>
            <a:endParaRPr lang="en-US" sz="800" dirty="0"/>
          </a:p>
        </p:txBody>
      </p:sp>
      <p:sp>
        <p:nvSpPr>
          <p:cNvPr id="40" name="Shape 28"/>
          <p:cNvSpPr/>
          <p:nvPr/>
        </p:nvSpPr>
        <p:spPr>
          <a:xfrm>
            <a:off x="517922" y="4498777"/>
            <a:ext cx="8115300" cy="514350"/>
          </a:xfrm>
          <a:prstGeom prst="rect">
            <a:avLst/>
          </a:prstGeom>
          <a:solidFill>
            <a:srgbClr val="FAFAFA">
              <a:alpha val="70000"/>
            </a:srgbClr>
          </a:solidFill>
          <a:ln w="18288">
            <a:solidFill>
              <a:srgbClr val="999999">
                <a:alpha val="70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29"/>
          <p:cNvSpPr/>
          <p:nvPr/>
        </p:nvSpPr>
        <p:spPr>
          <a:xfrm>
            <a:off x="517922" y="4677370"/>
            <a:ext cx="1785938" cy="157163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0"/>
          <p:cNvSpPr/>
          <p:nvPr/>
        </p:nvSpPr>
        <p:spPr>
          <a:xfrm>
            <a:off x="517922" y="4677370"/>
            <a:ext cx="1785938" cy="15716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Modules</a:t>
            </a:r>
            <a:endParaRPr lang="en-US" sz="9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18172" y="4670227"/>
            <a:ext cx="171450" cy="17145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2761060" y="4687193"/>
            <a:ext cx="129480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Twilio Voice + STT/TTS</a:t>
            </a:r>
            <a:endParaRPr lang="en-US" sz="80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1614" y="4670227"/>
            <a:ext cx="192881" cy="17145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4605933" y="4687193"/>
            <a:ext cx="11608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RAG Product Catalog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371475"/>
            <a:ext cx="1939528" cy="316111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14350" y="371475"/>
            <a:ext cx="1939528" cy="316111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Concrete Scenario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14350" y="973336"/>
            <a:ext cx="81153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1A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It Works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14350" y="1462683"/>
            <a:ext cx="81153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Signal Detection to Successful Handoff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182988" y="2294930"/>
            <a:ext cx="285750" cy="285750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82988" y="229493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04395" y="2687836"/>
            <a:ext cx="642938" cy="642938"/>
          </a:xfrm>
          <a:prstGeom prst="rect">
            <a:avLst/>
          </a:prstGeom>
          <a:solidFill>
            <a:srgbClr val="FFFFFF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988" y="2866430"/>
            <a:ext cx="28575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972" y="3473648"/>
            <a:ext cx="111978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Signal Detection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85788" y="3859411"/>
            <a:ext cx="148017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 spots salary hike + new recurring debit + app usage shift.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2806043" y="2294930"/>
            <a:ext cx="285750" cy="285750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806043" y="229493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627449" y="2687836"/>
            <a:ext cx="642938" cy="642938"/>
          </a:xfrm>
          <a:prstGeom prst="rect">
            <a:avLst/>
          </a:prstGeom>
          <a:solidFill>
            <a:srgbClr val="FFFFFF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6043" y="2866430"/>
            <a:ext cx="28575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05112" y="3473648"/>
            <a:ext cx="88761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Reasoning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208842" y="3859411"/>
            <a:ext cx="148017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correlates signals into "Investment Readiness" hypothesis.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4429097" y="2294930"/>
            <a:ext cx="285750" cy="285750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4429097" y="229493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250503" y="2687836"/>
            <a:ext cx="642938" cy="642938"/>
          </a:xfrm>
          <a:prstGeom prst="rect">
            <a:avLst/>
          </a:prstGeom>
          <a:solidFill>
            <a:srgbClr val="FFFFFF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4008509" y="3473648"/>
            <a:ext cx="1126927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Policy Validation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831896" y="3859411"/>
            <a:ext cx="148017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 Agent triggers mandatory human RM review per SEBI rules.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6052152" y="2294930"/>
            <a:ext cx="285750" cy="285750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0"/>
          <p:cNvSpPr/>
          <p:nvPr/>
        </p:nvSpPr>
        <p:spPr>
          <a:xfrm>
            <a:off x="6052152" y="229493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873558" y="2687836"/>
            <a:ext cx="642938" cy="642938"/>
          </a:xfrm>
          <a:prstGeom prst="rect">
            <a:avLst/>
          </a:prstGeom>
          <a:solidFill>
            <a:srgbClr val="FFFFFF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2152" y="2866430"/>
            <a:ext cx="285750" cy="2857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54951" y="3473648"/>
            <a:ext cx="14801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Personalized Engagement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454951" y="3859411"/>
            <a:ext cx="148017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Agent picks channel; Caller executes adaptive conversation.</a:t>
            </a:r>
            <a:endParaRPr lang="en-US" sz="750" dirty="0"/>
          </a:p>
        </p:txBody>
      </p:sp>
      <p:sp>
        <p:nvSpPr>
          <p:cNvPr id="30" name="Shape 24"/>
          <p:cNvSpPr/>
          <p:nvPr/>
        </p:nvSpPr>
        <p:spPr>
          <a:xfrm>
            <a:off x="7675206" y="2294930"/>
            <a:ext cx="285750" cy="285750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7675206" y="229493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496612" y="2687836"/>
            <a:ext cx="642938" cy="642938"/>
          </a:xfrm>
          <a:prstGeom prst="rect">
            <a:avLst/>
          </a:prstGeom>
          <a:solidFill>
            <a:srgbClr val="FFFFFF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5206" y="2866430"/>
            <a:ext cx="285750" cy="2857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78005" y="3473648"/>
            <a:ext cx="14801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Lead Routing &amp; Learning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7078005" y="3859411"/>
            <a:ext cx="1480179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analyzed, memory updated, and lead routed to RM.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85725" y="4620220"/>
            <a:ext cx="8972550" cy="437555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85725" y="4620220"/>
            <a:ext cx="8972550" cy="14288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3803" y="4788098"/>
            <a:ext cx="114300" cy="1143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039541" y="4777383"/>
            <a:ext cx="525065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orchestration ensures every customer interaction is evidence-based and compliant.</a:t>
            </a:r>
            <a:endParaRPr lang="en-US" sz="800" dirty="0"/>
          </a:p>
        </p:txBody>
      </p:sp>
      <p:pic>
        <p:nvPicPr>
          <p:cNvPr id="41" name="Graphic 40" descr="Document with solid fill">
            <a:extLst>
              <a:ext uri="{FF2B5EF4-FFF2-40B4-BE49-F238E27FC236}">
                <a16:creationId xmlns:a16="http://schemas.microsoft.com/office/drawing/2014/main" id="{A00579D7-2822-4B5C-3F72-532223DFEA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75735" y="2784927"/>
            <a:ext cx="392473" cy="3924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585" y="-146529"/>
            <a:ext cx="9193237" cy="529002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371475"/>
            <a:ext cx="2184202" cy="316111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14350" y="371475"/>
            <a:ext cx="2184202" cy="316111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Agentic Advantage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14350" y="973336"/>
            <a:ext cx="81153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1A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Makes It Different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14350" y="1462683"/>
            <a:ext cx="81153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Moving Beyond Traditional Automation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0062" y="1759149"/>
            <a:ext cx="2054899" cy="430644"/>
          </a:xfrm>
          <a:prstGeom prst="rect">
            <a:avLst/>
          </a:prstGeom>
          <a:solidFill>
            <a:srgbClr val="001A33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92931" y="1731426"/>
            <a:ext cx="2027039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44961" y="1759148"/>
            <a:ext cx="3179443" cy="430644"/>
          </a:xfrm>
          <a:prstGeom prst="rect">
            <a:avLst/>
          </a:prstGeom>
          <a:solidFill>
            <a:srgbClr val="001A33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2538456" y="1748316"/>
            <a:ext cx="317944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Traditional Automation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21726" y="1748316"/>
            <a:ext cx="2932212" cy="441476"/>
          </a:xfrm>
          <a:prstGeom prst="rect">
            <a:avLst/>
          </a:prstGeom>
          <a:solidFill>
            <a:srgbClr val="001A33"/>
          </a:solidFill>
          <a:ln w="9144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730909" y="1728442"/>
            <a:ext cx="3171406" cy="49731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Our Agentic System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7922" y="2197556"/>
            <a:ext cx="2027039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Reasoning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65052" y="2197555"/>
            <a:ext cx="3174085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Black-box rules engine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719046" y="2209416"/>
            <a:ext cx="2907032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Traceable evidence chain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0062" y="2635302"/>
            <a:ext cx="8163875" cy="427343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5445" y="2621234"/>
            <a:ext cx="2027039" cy="4819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Memory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02484" y="2617387"/>
            <a:ext cx="3174085" cy="48962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Session-based / Static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76569" y="2617387"/>
            <a:ext cx="2907032" cy="48962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Persistent per-customer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90062" y="3041301"/>
            <a:ext cx="2027039" cy="4819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Compliance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517101" y="3037454"/>
            <a:ext cx="3174085" cy="48962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Post-process check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91186" y="3037454"/>
            <a:ext cx="2907032" cy="48962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In-pipeline governance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90061" y="3487539"/>
            <a:ext cx="8163876" cy="445961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75445" y="3489571"/>
            <a:ext cx="2056658" cy="4819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Privacy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502484" y="3485724"/>
            <a:ext cx="3220464" cy="48962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Bolt-on controls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76568" y="3485724"/>
            <a:ext cx="2949509" cy="48962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DPDP-first architecture</a:t>
            </a:r>
            <a:endParaRPr lang="en-US" sz="9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512" y="4516403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94141" y="4852159"/>
            <a:ext cx="16073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Explainable Reasoning</a:t>
            </a:r>
            <a:endParaRPr lang="en-US" sz="8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056" y="4516403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658684" y="4852159"/>
            <a:ext cx="16073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Persistent Memory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747141" y="4846299"/>
            <a:ext cx="16073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Policy-Aware</a:t>
            </a:r>
            <a:endParaRPr lang="en-US" sz="8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8569" y="4516403"/>
            <a:ext cx="285750" cy="2286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87772" y="4852159"/>
            <a:ext cx="160734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Privacy &amp; Governance</a:t>
            </a:r>
            <a:endParaRPr lang="en-US" sz="800" dirty="0"/>
          </a:p>
        </p:txBody>
      </p:sp>
      <p:pic>
        <p:nvPicPr>
          <p:cNvPr id="35" name="Graphic 34" descr="Document with solid fill">
            <a:extLst>
              <a:ext uri="{FF2B5EF4-FFF2-40B4-BE49-F238E27FC236}">
                <a16:creationId xmlns:a16="http://schemas.microsoft.com/office/drawing/2014/main" id="{CED14885-5273-E013-6DEF-850F241872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84967" y="4444263"/>
            <a:ext cx="360191" cy="3601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51374" cy="51479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35756" y="408814"/>
            <a:ext cx="2934295" cy="316111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35756" y="408814"/>
            <a:ext cx="2934295" cy="316111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Efficiency, Retention, and Growth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35755" y="915128"/>
            <a:ext cx="811530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1A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Business Impact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35757" y="1357729"/>
            <a:ext cx="811530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Driving Measurable Value for SBI and its Customers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1469" y="1727063"/>
            <a:ext cx="3914775" cy="2375624"/>
          </a:xfrm>
          <a:prstGeom prst="rect">
            <a:avLst/>
          </a:prstGeom>
          <a:solidFill>
            <a:srgbClr val="F4F7FA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21468" y="1727062"/>
            <a:ext cx="3929063" cy="350687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21469" y="1727062"/>
            <a:ext cx="3900488" cy="38754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 the Bank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3" y="2314636"/>
            <a:ext cx="171450" cy="1551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8669" y="2293204"/>
            <a:ext cx="32646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Lower Cost-per-Conversion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78669" y="2487872"/>
            <a:ext cx="313074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routing reserves expensive channels for high-value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78669" y="2637890"/>
            <a:ext cx="30539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leads.</a:t>
            </a:r>
            <a:endParaRPr lang="en-US" sz="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3" y="2941500"/>
            <a:ext cx="214313" cy="1551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1532" y="2920068"/>
            <a:ext cx="32218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Attrition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821532" y="3114736"/>
            <a:ext cx="28575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Memory-informed contact frequency prevents customer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821532" y="3264754"/>
            <a:ext cx="3821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fatigue.</a:t>
            </a:r>
            <a:endParaRPr lang="en-US" sz="8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3" y="3568364"/>
            <a:ext cx="171450" cy="1551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8669" y="3546933"/>
            <a:ext cx="326469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Retention-First Detection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778669" y="3741600"/>
            <a:ext cx="28825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Treats churn risk as a primary detection category, not an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778669" y="3891618"/>
            <a:ext cx="6554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afterthought.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4507707" y="1727062"/>
            <a:ext cx="3929063" cy="2375625"/>
          </a:xfrm>
          <a:prstGeom prst="rect">
            <a:avLst/>
          </a:prstGeom>
          <a:solidFill>
            <a:srgbClr val="F4F7FA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4507708" y="1727062"/>
            <a:ext cx="3929062" cy="350687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4521994" y="1727062"/>
            <a:ext cx="3914775" cy="38754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 the Customer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588" y="2314636"/>
            <a:ext cx="171450" cy="15514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79194" y="2293204"/>
            <a:ext cx="309145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Timely Assistance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4979194" y="2487872"/>
            <a:ext cx="30914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Helpful engagement at the exact moment a life event occurs.</a:t>
            </a:r>
            <a:endParaRPr lang="en-US" sz="8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588" y="2791481"/>
            <a:ext cx="171450" cy="15514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79194" y="2770050"/>
            <a:ext cx="30146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Relevance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979194" y="2964717"/>
            <a:ext cx="30146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offers that align with actual financial behavior.</a:t>
            </a:r>
            <a:endParaRPr lang="en-US" sz="8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588" y="3268326"/>
            <a:ext cx="171450" cy="155143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979194" y="3246895"/>
            <a:ext cx="314682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Spam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4979194" y="3441562"/>
            <a:ext cx="31468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Elimination of generic mass blasts and irrelevant notifications.</a:t>
            </a:r>
            <a:endParaRPr lang="en-US" sz="800" dirty="0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E4CD4400-D797-09D6-4DEF-B590AACD958B}"/>
              </a:ext>
            </a:extLst>
          </p:cNvPr>
          <p:cNvSpPr/>
          <p:nvPr/>
        </p:nvSpPr>
        <p:spPr>
          <a:xfrm>
            <a:off x="77372" y="4263845"/>
            <a:ext cx="8985512" cy="802742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/>
          <p:nvPr/>
        </p:nvSpPr>
        <p:spPr>
          <a:xfrm>
            <a:off x="335755" y="4542344"/>
            <a:ext cx="259657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Monetization &amp; Scale</a:t>
            </a:r>
            <a:endParaRPr lang="en-US" sz="12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1792" y="4589671"/>
            <a:ext cx="114766" cy="1143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107529" y="4578063"/>
            <a:ext cx="1371807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Per-Activation Licensing</a:t>
            </a:r>
            <a:endParaRPr lang="en-US" sz="8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8084" y="4589671"/>
            <a:ext cx="114766" cy="11430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873822" y="4578063"/>
            <a:ext cx="104365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Tiered SaaS Model</a:t>
            </a:r>
            <a:endParaRPr lang="en-US" sz="8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7550" y="4589671"/>
            <a:ext cx="100420" cy="11430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298999" y="4578063"/>
            <a:ext cx="1430983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Cross-Product Scalability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4350" y="371475"/>
            <a:ext cx="3018234" cy="316111"/>
          </a:xfrm>
          <a:prstGeom prst="rect">
            <a:avLst/>
          </a:prstGeom>
          <a:solidFill>
            <a:srgbClr val="0057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14350" y="371475"/>
            <a:ext cx="3018234" cy="316111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Roadmap to Autonomous Banking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14350" y="973336"/>
            <a:ext cx="3843338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1A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Demo &amp; Vision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14350" y="1462683"/>
            <a:ext cx="3843338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7A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Scaling Relationships Through Intelligence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14350" y="1937742"/>
            <a:ext cx="3843338" cy="1000125"/>
          </a:xfrm>
          <a:prstGeom prst="rect">
            <a:avLst/>
          </a:prstGeom>
          <a:solidFill>
            <a:srgbClr val="F4F7FA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144" y="2102048"/>
            <a:ext cx="285750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98452" y="2459236"/>
            <a:ext cx="107513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Dashboard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421606" y="2652117"/>
            <a:ext cx="20288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overview &amp; proactive notifications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514350" y="3023592"/>
            <a:ext cx="3843338" cy="1000125"/>
          </a:xfrm>
          <a:prstGeom prst="rect">
            <a:avLst/>
          </a:prstGeom>
          <a:solidFill>
            <a:srgbClr val="F4F7FA"/>
          </a:solidFill>
          <a:ln w="18288">
            <a:solidFill>
              <a:srgbClr val="0057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425" y="3187898"/>
            <a:ext cx="357188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4348" y="3545086"/>
            <a:ext cx="102334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Admin Console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521619" y="3737967"/>
            <a:ext cx="1828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queues &amp; agent reasoning traces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786313" y="973336"/>
            <a:ext cx="1510903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1A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100638" y="1353741"/>
            <a:ext cx="352901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1: Now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100638" y="1509117"/>
            <a:ext cx="352901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Sentinel, Analyst, and Coordinator running on LangGraph with seeded data.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5100638" y="1880592"/>
            <a:ext cx="32539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2: Next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100638" y="2035969"/>
            <a:ext cx="325397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Twilio voice integration &amp; RAG-grounded product matching.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5100638" y="2278856"/>
            <a:ext cx="338792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1A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3: Later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5100638" y="2434233"/>
            <a:ext cx="338792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adaptive memory learning &amp; PostgreSQL production migration.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85725" y="4143035"/>
            <a:ext cx="8972550" cy="914400"/>
          </a:xfrm>
          <a:prstGeom prst="rect">
            <a:avLst/>
          </a:prstGeom>
          <a:solidFill>
            <a:srgbClr val="001A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514350" y="4357688"/>
            <a:ext cx="81153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"From reactive banking to a governed, autonomous relationship manager for every customer."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C32BA74AEA8440AFAA949979967361" ma:contentTypeVersion="6" ma:contentTypeDescription="Create a new document." ma:contentTypeScope="" ma:versionID="329e09a7d2ba8aab2a15318a4e0c612c">
  <xsd:schema xmlns:xsd="http://www.w3.org/2001/XMLSchema" xmlns:xs="http://www.w3.org/2001/XMLSchema" xmlns:p="http://schemas.microsoft.com/office/2006/metadata/properties" xmlns:ns3="5f373f0d-468e-4423-820b-176f437c610e" targetNamespace="http://schemas.microsoft.com/office/2006/metadata/properties" ma:root="true" ma:fieldsID="e9f1587f257a45c0b573ea921fc0c967" ns3:_="">
    <xsd:import namespace="5f373f0d-468e-4423-820b-176f437c610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373f0d-468e-4423-820b-176f437c610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373f0d-468e-4423-820b-176f437c610e" xsi:nil="true"/>
  </documentManagement>
</p:properties>
</file>

<file path=customXml/itemProps1.xml><?xml version="1.0" encoding="utf-8"?>
<ds:datastoreItem xmlns:ds="http://schemas.openxmlformats.org/officeDocument/2006/customXml" ds:itemID="{7CA6788F-4752-47C0-8446-64E8505C15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373f0d-468e-4423-820b-176f437c61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DE1771-31D7-449A-BF90-5351A40010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B4EF2A-8615-4674-BE4D-1D530ACA8C6C}">
  <ds:schemaRefs>
    <ds:schemaRef ds:uri="5f373f0d-468e-4423-820b-176f437c610e"/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658</Words>
  <Application>Microsoft Office PowerPoint</Application>
  <PresentationFormat>On-screen Show (16:9)</PresentationFormat>
  <Paragraphs>158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Inter</vt:lpstr>
      <vt:lpstr>Inter Bold</vt:lpstr>
      <vt:lpstr>Montserrat</vt:lpstr>
      <vt:lpstr>Montserrat Black</vt:lpstr>
      <vt:lpstr>Montserrat 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Pratham Shetty</cp:lastModifiedBy>
  <cp:revision>4</cp:revision>
  <dcterms:created xsi:type="dcterms:W3CDTF">2026-07-04T19:27:37Z</dcterms:created>
  <dcterms:modified xsi:type="dcterms:W3CDTF">2026-07-04T20:22:24Z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0x010100F8C32BA74AEA8440AFAA949979967361</vt:lpwstr>
  </property>
</Properties>
</file>